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aret Bold" charset="1" panose="00000000000000000000"/>
      <p:regular r:id="rId14"/>
    </p:embeddedFont>
    <p:embeddedFont>
      <p:font typeface="Helvetica World" charset="1" panose="020B0500040000020004"/>
      <p:regular r:id="rId15"/>
    </p:embeddedFont>
    <p:embeddedFont>
      <p:font typeface="Helvetica World Bold" charset="1" panose="020B0800040000020004"/>
      <p:regular r:id="rId16"/>
    </p:embeddedFont>
    <p:embeddedFont>
      <p:font typeface="Helvetica World Italics" charset="1" panose="020B050004000009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E4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458190">
            <a:off x="10477411" y="-4291124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F2C6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5400000">
            <a:off x="9296383" y="1330628"/>
            <a:ext cx="8302229" cy="8302196"/>
            <a:chOff x="0" y="0"/>
            <a:chExt cx="6350000" cy="63499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solidFill>
              <a:srgbClr val="F2C6A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004210" y="2038438"/>
            <a:ext cx="6886575" cy="688657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7575550"/>
            <a:ext cx="8693897" cy="2044700"/>
            <a:chOff x="0" y="0"/>
            <a:chExt cx="11591862" cy="27262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95250"/>
              <a:ext cx="11591862" cy="18453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560"/>
                </a:lnSpc>
              </a:pPr>
              <a:r>
                <a:rPr lang="en-US" b="true" sz="9600" spc="-240">
                  <a:solidFill>
                    <a:srgbClr val="D16A4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{{CONTENT</a:t>
              </a:r>
              <a:r>
                <a:rPr lang="en-US" b="true" sz="9600" spc="-240">
                  <a:solidFill>
                    <a:srgbClr val="D16A4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}}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2227157"/>
              <a:ext cx="9588500" cy="499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</a:pP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{{TEACHER</a:t>
              </a: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_NAME}}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05025" y="794385"/>
            <a:ext cx="5448300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</a:pPr>
            <a:r>
              <a:rPr lang="en-US" b="true" sz="2400" spc="60">
                <a:solidFill>
                  <a:srgbClr val="6D422A"/>
                </a:solidFill>
                <a:latin typeface="Garet Bold"/>
                <a:ea typeface="Garet Bold"/>
                <a:cs typeface="Garet Bold"/>
                <a:sym typeface="Garet Bold"/>
              </a:rPr>
              <a:t>{{SLIDE</a:t>
            </a:r>
            <a:r>
              <a:rPr lang="en-US" b="true" sz="2400" spc="60">
                <a:solidFill>
                  <a:srgbClr val="6D422A"/>
                </a:solidFill>
                <a:latin typeface="Garet Bold"/>
                <a:ea typeface="Garet Bold"/>
                <a:cs typeface="Garet Bold"/>
                <a:sym typeface="Garet Bold"/>
              </a:rPr>
              <a:t>_TITLE}}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6675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058190">
            <a:off x="-8315153" y="-2517302"/>
            <a:ext cx="13610886" cy="8302196"/>
            <a:chOff x="0" y="0"/>
            <a:chExt cx="1476351" cy="9005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76351" cy="900526"/>
            </a:xfrm>
            <a:custGeom>
              <a:avLst/>
              <a:gdLst/>
              <a:ahLst/>
              <a:cxnLst/>
              <a:rect r="r" b="b" t="t" l="l"/>
              <a:pathLst>
                <a:path h="900526" w="1476351">
                  <a:moveTo>
                    <a:pt x="0" y="0"/>
                  </a:moveTo>
                  <a:lnTo>
                    <a:pt x="1476351" y="0"/>
                  </a:lnTo>
                  <a:lnTo>
                    <a:pt x="1476351" y="900526"/>
                  </a:lnTo>
                  <a:lnTo>
                    <a:pt x="0" y="900526"/>
                  </a:lnTo>
                  <a:close/>
                </a:path>
              </a:pathLst>
            </a:custGeom>
            <a:solidFill>
              <a:srgbClr val="F2B77C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476351" cy="1062451"/>
            </a:xfrm>
            <a:prstGeom prst="rect">
              <a:avLst/>
            </a:prstGeom>
          </p:spPr>
          <p:txBody>
            <a:bodyPr anchor="ctr" rtlCol="false" tIns="123349" lIns="123349" bIns="123349" rIns="123349"/>
            <a:lstStyle/>
            <a:p>
              <a:pPr algn="ctr" marL="0" indent="0" lvl="0">
                <a:lnSpc>
                  <a:spcPts val="112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66750"/>
            <a:ext cx="7191375" cy="3267075"/>
            <a:chOff x="0" y="0"/>
            <a:chExt cx="9588500" cy="43561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6200"/>
              <a:ext cx="9588500" cy="28718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D16A4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{{S</a:t>
              </a:r>
              <a:r>
                <a:rPr lang="en-US" b="true" sz="7599" spc="-189">
                  <a:solidFill>
                    <a:srgbClr val="D16A4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LIDE_TITLE}}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733376"/>
              <a:ext cx="95885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{{CONTENT}}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9072" y="1318054"/>
            <a:ext cx="8302229" cy="8302196"/>
            <a:chOff x="0" y="0"/>
            <a:chExt cx="11069639" cy="11069594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F2B77C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943769" y="943747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666750"/>
            <a:ext cx="5448300" cy="4029075"/>
            <a:chOff x="0" y="0"/>
            <a:chExt cx="844084" cy="624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624209"/>
            </a:xfrm>
            <a:custGeom>
              <a:avLst/>
              <a:gdLst/>
              <a:ahLst/>
              <a:cxnLst/>
              <a:rect r="r" b="b" t="t" l="l"/>
              <a:pathLst>
                <a:path h="624209" w="844084">
                  <a:moveTo>
                    <a:pt x="49734" y="0"/>
                  </a:moveTo>
                  <a:lnTo>
                    <a:pt x="794350" y="0"/>
                  </a:lnTo>
                  <a:cubicBezTo>
                    <a:pt x="821817" y="0"/>
                    <a:pt x="844084" y="22267"/>
                    <a:pt x="844084" y="49734"/>
                  </a:cubicBezTo>
                  <a:lnTo>
                    <a:pt x="844084" y="574475"/>
                  </a:lnTo>
                  <a:cubicBezTo>
                    <a:pt x="844084" y="587665"/>
                    <a:pt x="838844" y="600315"/>
                    <a:pt x="829517" y="609642"/>
                  </a:cubicBezTo>
                  <a:cubicBezTo>
                    <a:pt x="820190" y="618969"/>
                    <a:pt x="807540" y="624209"/>
                    <a:pt x="794350" y="624209"/>
                  </a:cubicBezTo>
                  <a:lnTo>
                    <a:pt x="49734" y="624209"/>
                  </a:lnTo>
                  <a:cubicBezTo>
                    <a:pt x="22267" y="624209"/>
                    <a:pt x="0" y="601942"/>
                    <a:pt x="0" y="574475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-221" t="0" r="-2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5143500"/>
            <a:ext cx="5448300" cy="4050900"/>
            <a:chOff x="0" y="0"/>
            <a:chExt cx="844084" cy="6275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627590"/>
            </a:xfrm>
            <a:custGeom>
              <a:avLst/>
              <a:gdLst/>
              <a:ahLst/>
              <a:cxnLst/>
              <a:rect r="r" b="b" t="t" l="l"/>
              <a:pathLst>
                <a:path h="627590" w="844084">
                  <a:moveTo>
                    <a:pt x="49734" y="0"/>
                  </a:moveTo>
                  <a:lnTo>
                    <a:pt x="794350" y="0"/>
                  </a:lnTo>
                  <a:cubicBezTo>
                    <a:pt x="821817" y="0"/>
                    <a:pt x="844084" y="22267"/>
                    <a:pt x="844084" y="49734"/>
                  </a:cubicBezTo>
                  <a:lnTo>
                    <a:pt x="844084" y="577856"/>
                  </a:lnTo>
                  <a:cubicBezTo>
                    <a:pt x="844084" y="605324"/>
                    <a:pt x="821817" y="627590"/>
                    <a:pt x="794350" y="627590"/>
                  </a:cubicBezTo>
                  <a:lnTo>
                    <a:pt x="49734" y="627590"/>
                  </a:lnTo>
                  <a:cubicBezTo>
                    <a:pt x="22267" y="627590"/>
                    <a:pt x="0" y="605324"/>
                    <a:pt x="0" y="577856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-68" t="0" r="-6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42950"/>
            <a:ext cx="5448300" cy="213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9"/>
              </a:lnSpc>
            </a:pP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{{S</a:t>
            </a: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LIDE_TITLE}}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11225" y="876300"/>
            <a:ext cx="4010025" cy="949165"/>
            <a:chOff x="0" y="0"/>
            <a:chExt cx="5346700" cy="126555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346700" cy="56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2400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Discover Reading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49934"/>
              <a:ext cx="53467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</a:t>
              </a: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ENT}}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11225" y="5353050"/>
            <a:ext cx="4010025" cy="949165"/>
            <a:chOff x="0" y="0"/>
            <a:chExt cx="5346700" cy="12655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346700" cy="56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2400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Share with Friends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9934"/>
              <a:ext cx="53467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</a:t>
              </a: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ENT}}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66750" y="872490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506200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9"/>
              </a:lnSpc>
            </a:pP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{{S</a:t>
            </a: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LIDE_TITLE}}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010025" cy="1081246"/>
            <a:chOff x="0" y="0"/>
            <a:chExt cx="5346700" cy="1441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Alphabet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TENT}}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010025" cy="1081246"/>
            <a:chOff x="0" y="0"/>
            <a:chExt cx="5346700" cy="14416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Phonics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{{CONTENT}}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010025" cy="1081246"/>
            <a:chOff x="0" y="0"/>
            <a:chExt cx="5346700" cy="14416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Flashcards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{{CONTENT}}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506200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9"/>
              </a:lnSpc>
            </a:pP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{{</a:t>
            </a: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SLIDE_TITLE}}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010025" cy="1081246"/>
            <a:chOff x="0" y="0"/>
            <a:chExt cx="5346700" cy="1441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'A' for Apple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TENT}}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010025" cy="1081246"/>
            <a:chOff x="0" y="0"/>
            <a:chExt cx="5346700" cy="14416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'B' for Ball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TENT}}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010025" cy="1081246"/>
            <a:chOff x="0" y="0"/>
            <a:chExt cx="5346700" cy="14416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'C' for Cat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18938"/>
              <a:ext cx="5346700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ONTENT}}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666750"/>
            <a:ext cx="5448300" cy="4029075"/>
            <a:chOff x="0" y="0"/>
            <a:chExt cx="844084" cy="624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4084" cy="624209"/>
            </a:xfrm>
            <a:custGeom>
              <a:avLst/>
              <a:gdLst/>
              <a:ahLst/>
              <a:cxnLst/>
              <a:rect r="r" b="b" t="t" l="l"/>
              <a:pathLst>
                <a:path h="624209" w="844084">
                  <a:moveTo>
                    <a:pt x="49734" y="0"/>
                  </a:moveTo>
                  <a:lnTo>
                    <a:pt x="794350" y="0"/>
                  </a:lnTo>
                  <a:cubicBezTo>
                    <a:pt x="821817" y="0"/>
                    <a:pt x="844084" y="22267"/>
                    <a:pt x="844084" y="49734"/>
                  </a:cubicBezTo>
                  <a:lnTo>
                    <a:pt x="844084" y="574475"/>
                  </a:lnTo>
                  <a:cubicBezTo>
                    <a:pt x="844084" y="587665"/>
                    <a:pt x="838844" y="600315"/>
                    <a:pt x="829517" y="609642"/>
                  </a:cubicBezTo>
                  <a:cubicBezTo>
                    <a:pt x="820190" y="618969"/>
                    <a:pt x="807540" y="624209"/>
                    <a:pt x="794350" y="624209"/>
                  </a:cubicBezTo>
                  <a:lnTo>
                    <a:pt x="49734" y="624209"/>
                  </a:lnTo>
                  <a:cubicBezTo>
                    <a:pt x="22267" y="624209"/>
                    <a:pt x="0" y="601942"/>
                    <a:pt x="0" y="574475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2"/>
              <a:stretch>
                <a:fillRect l="-221" t="0" r="-22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58125" y="5143500"/>
            <a:ext cx="5448300" cy="4050900"/>
            <a:chOff x="0" y="0"/>
            <a:chExt cx="844084" cy="6275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44084" cy="627590"/>
            </a:xfrm>
            <a:custGeom>
              <a:avLst/>
              <a:gdLst/>
              <a:ahLst/>
              <a:cxnLst/>
              <a:rect r="r" b="b" t="t" l="l"/>
              <a:pathLst>
                <a:path h="627590" w="844084">
                  <a:moveTo>
                    <a:pt x="49734" y="0"/>
                  </a:moveTo>
                  <a:lnTo>
                    <a:pt x="794350" y="0"/>
                  </a:lnTo>
                  <a:cubicBezTo>
                    <a:pt x="821817" y="0"/>
                    <a:pt x="844084" y="22267"/>
                    <a:pt x="844084" y="49734"/>
                  </a:cubicBezTo>
                  <a:lnTo>
                    <a:pt x="844084" y="577856"/>
                  </a:lnTo>
                  <a:cubicBezTo>
                    <a:pt x="844084" y="605324"/>
                    <a:pt x="821817" y="627590"/>
                    <a:pt x="794350" y="627590"/>
                  </a:cubicBezTo>
                  <a:lnTo>
                    <a:pt x="49734" y="627590"/>
                  </a:lnTo>
                  <a:cubicBezTo>
                    <a:pt x="22267" y="627590"/>
                    <a:pt x="0" y="605324"/>
                    <a:pt x="0" y="577856"/>
                  </a:cubicBezTo>
                  <a:lnTo>
                    <a:pt x="0" y="49734"/>
                  </a:lnTo>
                  <a:cubicBezTo>
                    <a:pt x="0" y="22267"/>
                    <a:pt x="22267" y="0"/>
                    <a:pt x="49734" y="0"/>
                  </a:cubicBezTo>
                  <a:close/>
                </a:path>
              </a:pathLst>
            </a:custGeom>
            <a:blipFill>
              <a:blip r:embed="rId3"/>
              <a:stretch>
                <a:fillRect l="-68" t="0" r="-68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666750" y="742950"/>
            <a:ext cx="5448300" cy="213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9"/>
              </a:lnSpc>
            </a:pP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{{S</a:t>
            </a: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LIDE_TITLE}}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611225" y="876300"/>
            <a:ext cx="4010025" cy="949165"/>
            <a:chOff x="0" y="0"/>
            <a:chExt cx="5346700" cy="126555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38100"/>
              <a:ext cx="5346700" cy="56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2400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Combining Letters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749934"/>
              <a:ext cx="53467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</a:t>
              </a: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CONTENT}}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611225" y="5353050"/>
            <a:ext cx="4010025" cy="949165"/>
            <a:chOff x="0" y="0"/>
            <a:chExt cx="5346700" cy="126555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38100"/>
              <a:ext cx="5346700" cy="566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b="true" sz="2400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Forming Words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749934"/>
              <a:ext cx="5346700" cy="515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</a:pPr>
              <a:r>
                <a:rPr lang="en-US" sz="2400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{{CONTENT}}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66750" y="872490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EE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7191375" cy="5848350"/>
            <a:chOff x="0" y="0"/>
            <a:chExt cx="9588500" cy="7797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588500" cy="4281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59"/>
                </a:lnSpc>
              </a:pPr>
              <a:r>
                <a:rPr lang="en-US" b="true" sz="7599" spc="-189">
                  <a:solidFill>
                    <a:srgbClr val="D16A4C"/>
                  </a:solidFill>
                  <a:latin typeface="Garet Bold"/>
                  <a:ea typeface="Garet Bold"/>
                  <a:cs typeface="Garet Bold"/>
                  <a:sym typeface="Garet Bold"/>
                </a:rPr>
                <a:t>Mastering the Alphabet Together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143076"/>
              <a:ext cx="9588500" cy="2654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Learning the alphabet is the </a:t>
              </a: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first step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to reading. By practicing sounds and letters, we become confident readers and explore new worlds through stories!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9470904" y="-5630646"/>
            <a:ext cx="17734061" cy="15250896"/>
            <a:chOff x="0" y="0"/>
            <a:chExt cx="23645414" cy="20334528"/>
          </a:xfrm>
        </p:grpSpPr>
        <p:grpSp>
          <p:nvGrpSpPr>
            <p:cNvPr name="Group 6" id="6"/>
            <p:cNvGrpSpPr/>
            <p:nvPr/>
          </p:nvGrpSpPr>
          <p:grpSpPr>
            <a:xfrm rot="2058190">
              <a:off x="1541001" y="4151125"/>
              <a:ext cx="18147848" cy="11069594"/>
              <a:chOff x="0" y="0"/>
              <a:chExt cx="1476351" cy="90052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76351" cy="900526"/>
              </a:xfrm>
              <a:custGeom>
                <a:avLst/>
                <a:gdLst/>
                <a:ahLst/>
                <a:cxnLst/>
                <a:rect r="r" b="b" t="t" l="l"/>
                <a:pathLst>
                  <a:path h="900526" w="1476351">
                    <a:moveTo>
                      <a:pt x="0" y="0"/>
                    </a:moveTo>
                    <a:lnTo>
                      <a:pt x="1476351" y="0"/>
                    </a:lnTo>
                    <a:lnTo>
                      <a:pt x="1476351" y="900526"/>
                    </a:lnTo>
                    <a:lnTo>
                      <a:pt x="0" y="900526"/>
                    </a:lnTo>
                    <a:close/>
                  </a:path>
                </a:pathLst>
              </a:custGeom>
              <a:solidFill>
                <a:srgbClr val="F3C0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61925"/>
                <a:ext cx="1476351" cy="1062451"/>
              </a:xfrm>
              <a:prstGeom prst="rect">
                <a:avLst/>
              </a:prstGeom>
            </p:spPr>
            <p:txBody>
              <a:bodyPr anchor="ctr" rtlCol="false" tIns="123349" lIns="123349" bIns="123349" rIns="123349"/>
              <a:lstStyle/>
              <a:p>
                <a:pPr algn="ctr" marL="0" indent="0" lvl="0">
                  <a:lnSpc>
                    <a:spcPts val="1120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12575776" y="9264934"/>
              <a:ext cx="11069639" cy="11069594"/>
              <a:chOff x="0" y="0"/>
              <a:chExt cx="6350000" cy="6349975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350000" cy="6349974"/>
              </a:xfrm>
              <a:custGeom>
                <a:avLst/>
                <a:gdLst/>
                <a:ahLst/>
                <a:cxnLst/>
                <a:rect r="r" b="b" t="t" l="l"/>
                <a:pathLst>
                  <a:path h="6349974" w="6350000">
                    <a:moveTo>
                      <a:pt x="6350000" y="3175025"/>
                    </a:moveTo>
                    <a:cubicBezTo>
                      <a:pt x="6350000" y="4928451"/>
                      <a:pt x="4928476" y="6349974"/>
                      <a:pt x="3175000" y="6349974"/>
                    </a:cubicBezTo>
                    <a:cubicBezTo>
                      <a:pt x="1421498" y="6349974"/>
                      <a:pt x="0" y="4928451"/>
                      <a:pt x="0" y="3175025"/>
                    </a:cubicBezTo>
                    <a:cubicBezTo>
                      <a:pt x="0" y="1421511"/>
                      <a:pt x="1421498" y="0"/>
                      <a:pt x="3175000" y="0"/>
                    </a:cubicBezTo>
                    <a:cubicBezTo>
                      <a:pt x="4928501" y="0"/>
                      <a:pt x="6350000" y="1421511"/>
                      <a:pt x="6350000" y="3175025"/>
                    </a:cubicBezTo>
                    <a:close/>
                  </a:path>
                </a:pathLst>
              </a:custGeom>
              <a:solidFill>
                <a:srgbClr val="F3C095"/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519545" y="10208681"/>
              <a:ext cx="9182100" cy="9182100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0" t="0" r="0" b="0"/>
                </a:stretch>
              </a:blipFill>
            </p:spPr>
          </p:sp>
        </p:grp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EA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506200" cy="10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59"/>
              </a:lnSpc>
            </a:pPr>
            <a:r>
              <a:rPr lang="en-US" b="true" sz="7599" spc="-189">
                <a:solidFill>
                  <a:srgbClr val="D16A4C"/>
                </a:solidFill>
                <a:latin typeface="Garet Bold"/>
                <a:ea typeface="Garet Bold"/>
                <a:cs typeface="Garet Bold"/>
                <a:sym typeface="Garet Bold"/>
              </a:rPr>
              <a:t>Reading Simple Words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48150"/>
            <a:ext cx="4010025" cy="2109946"/>
            <a:chOff x="0" y="0"/>
            <a:chExt cx="5346700" cy="28132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Ibu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818938"/>
              <a:ext cx="5346700" cy="1994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 i="true">
                  <a:solidFill>
                    <a:srgbClr val="6D422A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Ibu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means mother. She loves to read stories to her children every night.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48150"/>
            <a:ext cx="4010025" cy="2605246"/>
            <a:chOff x="0" y="0"/>
            <a:chExt cx="5346700" cy="3473662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Ayah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18938"/>
              <a:ext cx="5346700" cy="2654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 i="true">
                  <a:solidFill>
                    <a:srgbClr val="6D422A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Ayah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means father. He enjoys reading the newspaper while having breakfast with the family.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172950" y="4248150"/>
            <a:ext cx="4010025" cy="2605246"/>
            <a:chOff x="0" y="0"/>
            <a:chExt cx="5346700" cy="347366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5346700" cy="673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>
                  <a:solidFill>
                    <a:srgbClr val="6D422A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Rumah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18938"/>
              <a:ext cx="5346700" cy="2654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 i="true">
                  <a:solidFill>
                    <a:srgbClr val="6D422A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Rumah</a:t>
              </a:r>
              <a:r>
                <a:rPr lang="en-US" sz="2799">
                  <a:solidFill>
                    <a:srgbClr val="6D422A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means home. It's where families come together to read and share stories happily.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25900" y="666750"/>
            <a:ext cx="895350" cy="895350"/>
          </a:xfrm>
          <a:custGeom>
            <a:avLst/>
            <a:gdLst/>
            <a:ahLst/>
            <a:cxnLst/>
            <a:rect r="r" b="b" t="t" l="l"/>
            <a:pathLst>
              <a:path h="895350" w="895350">
                <a:moveTo>
                  <a:pt x="0" y="0"/>
                </a:moveTo>
                <a:lnTo>
                  <a:pt x="895350" y="0"/>
                </a:lnTo>
                <a:lnTo>
                  <a:pt x="895350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Presentasi - Indonesian Literacy Presentation</dc:description>
  <dc:identifier>DAG-IZzlG-c</dc:identifier>
  <dcterms:modified xsi:type="dcterms:W3CDTF">2011-08-01T06:04:30Z</dcterms:modified>
  <cp:revision>1</cp:revision>
  <dc:title>Presentasi - Indonesian Literacy Presentation</dc:title>
</cp:coreProperties>
</file>